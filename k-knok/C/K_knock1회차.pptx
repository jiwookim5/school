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Pretendard Black" panose="020B0604020202020204" charset="-127"/>
      <p:bold r:id="rId30"/>
    </p:embeddedFont>
    <p:embeddedFont>
      <p:font typeface="Pretendard Bold" panose="020B0604020202020204" charset="-127"/>
      <p:bold r:id="rId31"/>
    </p:embeddedFont>
    <p:embeddedFont>
      <p:font typeface="Pretendard Regular" panose="020B0604020202020204" charset="-127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08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8600" y="4495800"/>
            <a:ext cx="78613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7800" b="0" i="0" u="none" strike="noStrike">
                <a:solidFill>
                  <a:srgbClr val="000000"/>
                </a:solidFill>
                <a:latin typeface="Pretendard Black"/>
              </a:rPr>
              <a:t>C</a:t>
            </a:r>
            <a:r>
              <a:rPr lang="ko-KR" sz="7800" b="0" i="0" u="none" strike="noStrike">
                <a:solidFill>
                  <a:srgbClr val="000000"/>
                </a:solidFill>
                <a:ea typeface="Pretendard Black"/>
              </a:rPr>
              <a:t>언어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lack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lack"/>
              </a:rPr>
              <a:t>스터디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lack"/>
              </a:rPr>
              <a:t> 1</a:t>
            </a:r>
            <a:r>
              <a:rPr lang="ko-KR" sz="7800" b="0" i="0" u="none" strike="noStrike">
                <a:solidFill>
                  <a:srgbClr val="000000"/>
                </a:solidFill>
                <a:ea typeface="Pretendard Black"/>
              </a:rPr>
              <a:t>회차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71300" y="5854700"/>
            <a:ext cx="2565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Regular"/>
              </a:rPr>
              <a:t>K.knock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0" y="4495800"/>
            <a:ext cx="74295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C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언어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스터디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소개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50165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C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언어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스터디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계획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300" y="3670300"/>
            <a:ext cx="84328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1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C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언어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시작하기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7300" y="4533900"/>
            <a:ext cx="85217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2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변수와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자료형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연산자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7300" y="5410200"/>
            <a:ext cx="78867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3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표준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입출력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제어문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6286500"/>
            <a:ext cx="7988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4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배열과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함수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67900" y="3670300"/>
            <a:ext cx="72771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메모리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포인터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67900" y="4533900"/>
            <a:ext cx="72771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6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문자열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포인터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심화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67900" y="5410200"/>
            <a:ext cx="70485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7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동적할당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구조체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67900" y="6286500"/>
            <a:ext cx="72771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8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회차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파일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입출력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7900" y="7150100"/>
            <a:ext cx="64135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+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최종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과제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포켓몬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50165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C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언어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학습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안내문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00" y="2628900"/>
            <a:ext cx="17208500" cy="617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프로그래밍의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기초는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단단한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토대에서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시작됩니다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C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언어는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현대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프로그래밍의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근간으로서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그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개념을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완벽히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이해하는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것이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무엇보다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중요합니다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변수의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선언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상수의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정의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입출력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함수의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활용에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이르기까지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하나하나가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여러분의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프로그래밍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여정에서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소중한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디딤돌이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됩니다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학습에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타협은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없습니다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과제를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완수하지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못하거나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개념을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온전히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이해하지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못한다면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다음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단계로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진행할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준비가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되지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않은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것입니다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진정한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성장은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어려움을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회피하는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것이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아닌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그것을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극복하는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과정에서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이루어집니다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수업을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마치기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전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제시되는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질문들은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여러분의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이해도를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확인하기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중요한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과정입니다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통과한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분들만이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진정으로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오늘의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목표를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달성했다고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할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있습니다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지식은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나눌수록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커지고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이해는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깊이질수록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1" i="0" u="none" strike="noStrike">
                <a:solidFill>
                  <a:srgbClr val="000000"/>
                </a:solidFill>
                <a:ea typeface="Pretendard Regular"/>
              </a:rPr>
              <a:t>단단해집니다</a:t>
            </a:r>
            <a:r>
              <a:rPr lang="en-US" sz="31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함께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배우고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함께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Regular"/>
              </a:rPr>
              <a:t>성장합시다</a:t>
            </a: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2616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수업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방식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3800" y="2413000"/>
            <a:ext cx="3924300" cy="394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660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과제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발표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(1~2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명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660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이론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수업</a:t>
            </a:r>
          </a:p>
          <a:p>
            <a:pPr lvl="0" algn="l">
              <a:lnSpc>
                <a:spcPct val="1660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실습</a:t>
            </a:r>
          </a:p>
          <a:p>
            <a:pPr lvl="0" algn="l">
              <a:lnSpc>
                <a:spcPct val="1660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과제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배포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12954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3800" y="2413000"/>
            <a:ext cx="8470900" cy="394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66000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C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언어의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특징</a:t>
            </a:r>
          </a:p>
          <a:p>
            <a:pPr lvl="0" algn="l">
              <a:lnSpc>
                <a:spcPct val="1660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개발환경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컴파일</a:t>
            </a:r>
          </a:p>
          <a:p>
            <a:pPr lvl="0" algn="l">
              <a:lnSpc>
                <a:spcPct val="166000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C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언어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기초</a:t>
            </a:r>
          </a:p>
          <a:p>
            <a:pPr lvl="0" algn="l">
              <a:lnSpc>
                <a:spcPct val="1660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실습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4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Pretendard Regular"/>
              </a:rPr>
              <a:t>과제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50000" y="4495800"/>
            <a:ext cx="57912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C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언어의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특징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700" y="0"/>
            <a:ext cx="3975100" cy="5410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00" y="5410200"/>
            <a:ext cx="5410200" cy="4876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" y="736600"/>
            <a:ext cx="61595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절차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지향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vs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객체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지향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3600" y="2895600"/>
            <a:ext cx="15074900" cy="560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절차지향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순차적인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과정으로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바라보는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방식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현실세계의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순차적인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단계로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분해하여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해결함</a:t>
            </a:r>
          </a:p>
          <a:p>
            <a:pPr lvl="0" algn="l">
              <a:lnSpc>
                <a:spcPct val="132800"/>
              </a:lnSpc>
            </a:pP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객체지향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객체들의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상호작용으로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바라보는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방식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현실세계의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각각의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구성요소로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분해하여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해결함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이러한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분해하는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단계를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추상화라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칭함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6426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컴파일러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vs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인터프리터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00" y="2336800"/>
            <a:ext cx="18402300" cy="702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런타임과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컴파일타임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두가지로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나뉨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런타임은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컴파일타임은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만드는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단계임</a:t>
            </a:r>
          </a:p>
          <a:p>
            <a:pPr lvl="0" algn="l">
              <a:lnSpc>
                <a:spcPct val="132800"/>
              </a:lnSpc>
            </a:pP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컴파일러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한번에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기계어로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번역한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뒤에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실행함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시간이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필요하지만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한번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만들어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뒤에는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빠름</a:t>
            </a:r>
          </a:p>
          <a:p>
            <a:pPr lvl="0" algn="l">
              <a:lnSpc>
                <a:spcPct val="132800"/>
              </a:lnSpc>
            </a:pP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인터프리터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읽어가며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기계어로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번역한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뒤에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실행함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시간이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필요없지만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속도가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느림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56896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범용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프로그래밍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언어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2324100"/>
            <a:ext cx="18402300" cy="477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도메인에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국한되지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않고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도메인의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프로그램을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만들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언어를</a:t>
            </a:r>
          </a:p>
          <a:p>
            <a:pPr lvl="0" algn="l">
              <a:lnSpc>
                <a:spcPct val="132800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범용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프로그래밍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언어라고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반의어로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특화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프로그래밍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언어가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endParaRPr lang="en-US" sz="4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C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언어는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범용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프로그래밍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언어로</a:t>
            </a:r>
          </a:p>
          <a:p>
            <a:pPr lvl="0" algn="l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C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언어만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알면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대부분의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프로그램을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만들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100" y="1181100"/>
            <a:ext cx="5029200" cy="8204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9600" y="736600"/>
            <a:ext cx="32004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메모리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관리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6900" y="2832100"/>
            <a:ext cx="10325100" cy="560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C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개발자가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메모리를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할당하고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해제해야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또한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가비지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컬렉터가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없어서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사용한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메모리를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정리해야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b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</a:br>
            <a:endParaRPr lang="en-US" sz="35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포인터를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메모리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주소를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다룹니다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저수준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접근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이러한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C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메모리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관리는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매우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빠르고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오버헤드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*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적어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임베디드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OS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개발에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적합합니다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(ex. Linux Kernel)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900" y="9728200"/>
            <a:ext cx="13982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오버헤드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특정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작업을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수행하기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논리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외에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추가로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소요되는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시간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메모리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등의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간접적인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자원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비용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57404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C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언어를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배우는가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1200" y="2425700"/>
            <a:ext cx="16814800" cy="529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C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언어는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톰슨과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데니스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리치가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1969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년부터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1973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년까지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4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년에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걸쳐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AT&amp;T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벨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연구소에서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이루어졌으며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현재까지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임베디드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프로그래밍에서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많이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쓰이고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언어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입니다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학습자의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입장에서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C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언어는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C++, JAVA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바탕이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언어인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만큼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언어보다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불편할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있지만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불편함에서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논리적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사고력과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능력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기를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있습니다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C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언어의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하나인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포인터는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컴퓨터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메모리에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관여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있게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함으로써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기본적인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컴퓨터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구조의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이해와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메모리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1" i="0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향후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프로그래밍을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배우는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것에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있어서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장점을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발휘합니다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8102600"/>
            <a:ext cx="71374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세줄요약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C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언어는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곳에서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쓰이고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있음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논리적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사고력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능력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기르기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기초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체력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증진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컴퓨터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메모리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경험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하드웨어적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사고방식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45300" y="4495800"/>
            <a:ext cx="50292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C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언어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기초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900" y="1968500"/>
            <a:ext cx="9499600" cy="880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6600" y="2044700"/>
            <a:ext cx="5689600" cy="1257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" y="736600"/>
            <a:ext cx="24638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전처리문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2959100"/>
            <a:ext cx="9880600" cy="563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컴파일러에게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내리는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명령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코드는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컴파일러가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읽고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특정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행동을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취하도록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#include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특정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불러오도록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명령이며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여기서는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stdio.h (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ST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an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D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ard 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I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nput/</a:t>
            </a:r>
            <a:r>
              <a:rPr lang="en-US" sz="3500" b="1" i="0" u="none" strike="noStrike">
                <a:solidFill>
                  <a:srgbClr val="000000"/>
                </a:solidFill>
                <a:latin typeface="Pretendard Regular"/>
              </a:rPr>
              <a:t>O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utput)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불러오도록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#define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“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매크로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"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불리는걸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정의하는데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여기서는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안에서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PI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사용했을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때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3.14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치환하도록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1651000"/>
            <a:ext cx="9525000" cy="880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0" y="3238500"/>
            <a:ext cx="7785100" cy="7048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" y="736600"/>
            <a:ext cx="24638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메인함수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8300" y="4406900"/>
            <a:ext cx="8305800" cy="210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프로그램이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실행될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실행되는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이러한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프로그램이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실행될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실행되는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함수를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1" i="0" u="none" strike="noStrike">
                <a:solidFill>
                  <a:srgbClr val="000000"/>
                </a:solidFill>
                <a:ea typeface="Pretendard Regular"/>
              </a:rPr>
              <a:t>진입점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이라고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Regular"/>
              </a:rPr>
              <a:t>부른다</a:t>
            </a:r>
            <a:r>
              <a:rPr lang="en-US" sz="3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4254500"/>
            <a:ext cx="14516100" cy="5829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100" y="4927600"/>
            <a:ext cx="2463800" cy="2146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" y="736600"/>
            <a:ext cx="55626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메인함수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주의할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2032000"/>
            <a:ext cx="10058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내에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main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반드시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00" b="1" i="0" u="none" strike="noStrike">
                <a:solidFill>
                  <a:srgbClr val="000000"/>
                </a:solidFill>
                <a:ea typeface="Pretendard Regular"/>
              </a:rPr>
              <a:t>하나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존재하여야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4200" y="2844800"/>
            <a:ext cx="18402300" cy="124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소스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구성된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프로젝트라도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main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오직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하나여야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lvl="0" algn="l">
              <a:lnSpc>
                <a:spcPct val="116199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2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이상일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경우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진입점을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찾지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못해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오류가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발생합니다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7400" y="4978400"/>
            <a:ext cx="6819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task1.c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소스코드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내에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main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함수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존재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0" y="7200900"/>
            <a:ext cx="6781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폴더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내에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소스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파일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2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개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존재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2273300"/>
            <a:ext cx="9969500" cy="7442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0" y="3733800"/>
            <a:ext cx="21158200" cy="598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100" y="3848100"/>
            <a:ext cx="5232400" cy="454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100" y="5626100"/>
            <a:ext cx="6324600" cy="457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9600" y="736600"/>
            <a:ext cx="55626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메인함수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주의할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5054600"/>
            <a:ext cx="10871200" cy="5092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9600" y="736600"/>
            <a:ext cx="55626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메인함수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주의할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800" y="1930400"/>
            <a:ext cx="17272000" cy="275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Visual Studio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단위가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아니라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단위로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만듭니다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그래서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안에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main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함수가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있으면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“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어디서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시작해야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할지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몰라서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”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링커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에러가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발생합니다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즉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(.exe)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하나고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시작점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(main)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하나만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있어야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합니다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" y="8813800"/>
            <a:ext cx="7899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하나의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실행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파일을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만드는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과정에서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에러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D94925"/>
                </a:solidFill>
                <a:ea typeface="Pretendard Regular"/>
              </a:rPr>
              <a:t>발생</a:t>
            </a:r>
            <a:r>
              <a:rPr lang="en-US" sz="3200" b="0" i="0" u="none" strike="noStrike">
                <a:solidFill>
                  <a:srgbClr val="D94925"/>
                </a:solidFill>
                <a:latin typeface="Pretendard Regular"/>
              </a:rPr>
              <a:t> -&gt;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0" y="3149600"/>
            <a:ext cx="11557000" cy="5080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9600" y="736600"/>
            <a:ext cx="4521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기본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스타일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6900" y="1943100"/>
            <a:ext cx="9258300" cy="284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1.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전처리문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필요한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파일을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불러오는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부분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전에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먼저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처리됨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#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4940300"/>
            <a:ext cx="92583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함수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시작점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C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프로그램에는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반드시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하나만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존재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900" y="7264400"/>
            <a:ext cx="92583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3. return 0;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반환값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정상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종료를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의미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- return 0;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0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반환하는게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관례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00" y="5207000"/>
            <a:ext cx="11557000" cy="508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30900"/>
            <a:ext cx="77089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0" y="5219700"/>
            <a:ext cx="33020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0" y="6184900"/>
            <a:ext cx="3302000" cy="52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3000" y="6680200"/>
            <a:ext cx="28829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3800" y="8102600"/>
            <a:ext cx="2882900" cy="520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09600" y="736600"/>
            <a:ext cx="8978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기본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스타일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주석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세미콜론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2273300"/>
            <a:ext cx="151638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주석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(Comment)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코드에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대한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설명을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적는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부분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실행되지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않음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프로그램에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영향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없음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00" y="5207000"/>
            <a:ext cx="11557000" cy="508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0" y="5270500"/>
            <a:ext cx="7124700" cy="275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00" y="7162800"/>
            <a:ext cx="5715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700" y="8140700"/>
            <a:ext cx="571500" cy="520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9600" y="736600"/>
            <a:ext cx="8978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기본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코드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스타일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주석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세미콜론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273300"/>
            <a:ext cx="151638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세미콜론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( ; )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문장의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끝을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나타내는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기호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C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줄의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명령이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끝났다는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의미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5700" y="8572500"/>
            <a:ext cx="11391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세미콜론이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없으면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컴파일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에러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발생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0" y="2209800"/>
            <a:ext cx="9398000" cy="604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0" y="8674100"/>
            <a:ext cx="15925800" cy="1155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5435600"/>
            <a:ext cx="61722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09600" y="736600"/>
            <a:ext cx="2616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표준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출력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4700" y="4025900"/>
            <a:ext cx="90297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printf : stdio.h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제공하는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표준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출력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함수</a:t>
            </a:r>
          </a:p>
          <a:p>
            <a:pPr lvl="0" algn="l">
              <a:lnSpc>
                <a:spcPct val="1328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다음과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같이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사용한다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49403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이스케이프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시퀀스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579100" y="3873500"/>
            <a:ext cx="8470900" cy="417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\n - Newline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바꿈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\t - Tab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수평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탭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\\ - Backslash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백슬래시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\' - Single Quote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따옴표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\" - Double Quote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이중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따옴표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\0 - Null Character 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4470400"/>
            <a:ext cx="94996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문자열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안에서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특별한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수행하는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표현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방식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5232400"/>
            <a:ext cx="100711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항상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역슬래시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\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시작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눈에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보이지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않는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줄바꿈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탭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표현</a:t>
            </a:r>
          </a:p>
          <a:p>
            <a:pPr marL="342900" lvl="0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문자열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안에서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특별한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의미를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가짐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79100" y="2946400"/>
            <a:ext cx="63246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자주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사용하는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이스케이프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시퀀스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17700"/>
            <a:ext cx="10325100" cy="6426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6769100"/>
            <a:ext cx="10312400" cy="3124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" y="736600"/>
            <a:ext cx="49403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이스케이프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시퀀스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31000" y="4495800"/>
            <a:ext cx="50165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실습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7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800" b="0" i="0" u="none" strike="noStrike">
                <a:solidFill>
                  <a:srgbClr val="000000"/>
                </a:solidFill>
                <a:ea typeface="Pretendard Bold"/>
              </a:rPr>
              <a:t>과제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4749800"/>
            <a:ext cx="16725900" cy="3200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9600" y="736600"/>
            <a:ext cx="69850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실습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1 - "Hello, World!"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4700" y="3568700"/>
            <a:ext cx="123317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C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언어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시작을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알리는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첫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문장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!  "Hello, World"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출력해보자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3810000"/>
            <a:ext cx="16471900" cy="5473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9600" y="736600"/>
            <a:ext cx="72263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실습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2 - "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자기소개서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출력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700" y="2692400"/>
            <a:ext cx="5753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자기소개서를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출력해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봅시다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36600"/>
            <a:ext cx="8978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과제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변수와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자료형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연산자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조사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6000" y="1930400"/>
            <a:ext cx="11861800" cy="806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500" b="1" i="0" u="none" strike="noStrike" dirty="0">
                <a:solidFill>
                  <a:srgbClr val="000000"/>
                </a:solidFill>
                <a:ea typeface="Pretendard Regular"/>
              </a:rPr>
              <a:t>변수와</a:t>
            </a:r>
            <a:r>
              <a:rPr lang="en-US" sz="2500" b="1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1" i="0" u="none" strike="noStrike" dirty="0">
                <a:solidFill>
                  <a:srgbClr val="000000"/>
                </a:solidFill>
                <a:ea typeface="Pretendard Regular"/>
              </a:rPr>
              <a:t>자료형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변수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선언과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초기화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자료형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(`int`, `char`, `float`, `double`)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500" b="1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산술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대입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증감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관계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논리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비트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 err="1">
                <a:solidFill>
                  <a:srgbClr val="000000"/>
                </a:solidFill>
                <a:ea typeface="Pretendard Regular"/>
              </a:rPr>
              <a:t>삼항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연산자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형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변환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암시적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명시적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표준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입출력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`</a:t>
            </a:r>
            <a:r>
              <a:rPr lang="en-US" sz="2500" b="0" i="0" u="none" strike="noStrike" dirty="0" err="1">
                <a:solidFill>
                  <a:srgbClr val="000000"/>
                </a:solidFill>
                <a:latin typeface="Pretendard Regular"/>
              </a:rPr>
              <a:t>printf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`, `</a:t>
            </a:r>
            <a:r>
              <a:rPr lang="en-US" sz="2500" b="0" i="0" u="none" strike="noStrike" dirty="0" err="1">
                <a:solidFill>
                  <a:srgbClr val="000000"/>
                </a:solidFill>
                <a:latin typeface="Pretendard Regular"/>
              </a:rPr>
              <a:t>scanf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`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등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서식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문자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포</a:t>
            </a:r>
            <a:r>
              <a:rPr lang="ko-KR" altLang="en-US" sz="2500" b="0" i="0" u="none" strike="noStrike" dirty="0">
                <a:solidFill>
                  <a:srgbClr val="000000"/>
                </a:solidFill>
                <a:ea typeface="Pretendard Regular"/>
              </a:rPr>
              <a:t>맷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 dirty="0">
                <a:solidFill>
                  <a:srgbClr val="000000"/>
                </a:solidFill>
                <a:ea typeface="Pretendard Regular"/>
              </a:rPr>
              <a:t>스트링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</a:rPr>
              <a:t>    - escape sequence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사용자 지정</PresentationFormat>
  <Paragraphs>161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Pretendard Regular</vt:lpstr>
      <vt:lpstr>Pretendard Bold</vt:lpstr>
      <vt:lpstr>Calibri</vt:lpstr>
      <vt:lpstr>Arial</vt:lpstr>
      <vt:lpstr>Pretendard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동현 김</cp:lastModifiedBy>
  <cp:revision>2</cp:revision>
  <dcterms:created xsi:type="dcterms:W3CDTF">2006-08-16T00:00:00Z</dcterms:created>
  <dcterms:modified xsi:type="dcterms:W3CDTF">2026-03-10T07:22:05Z</dcterms:modified>
</cp:coreProperties>
</file>